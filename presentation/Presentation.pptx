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black line is the Michigan index, the blue line is the one-step-ahead out-of-sample prediction from unemployment, inflation and GDP growth, all as known on the 15th of each month using ALFRED vintages. The bands are empirical intervals because the errors are strongly autocorrelated.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opened in 2021 and has not closed. Core versus headline PCE, pseudo versus true real-time data, and the sample start do not change it by more than half a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Dictionary baselines agree with the LLM on economic tone in fewer than half of items: 'prices fall' is good news that VADER calls negative. A TF-IDF model trained on the LLM labels reaches 71% agreement, macro-F1 0.64.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slant shows up in who is blamed, not in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reproducible from run_all.sh; prompts, model versions, seeds and provenance are in the package. A rigorous finding that media bias does not explain the gap is what the evidence currently supports.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515600" cy="1463040"/>
          </a:xfrm>
          <a:prstGeom prst="rect">
            <a:avLst/>
          </a:prstGeom>
          <a:noFill/>
        </p:spPr>
        <p:txBody>
          <a:bodyPr wrap="square">
            <a:spAutoFit/>
          </a:bodyPr>
          <a:lstStyle/>
          <a:p>
            <a:pPr algn="l"/>
            <a:r>
              <a:rPr sz="3400" b="1">
                <a:solidFill>
                  <a:srgbClr val="FFFFFF"/>
                </a:solidFill>
                <a:latin typeface="Calibri"/>
              </a:rPr>
              <a:t>Why is consumer sentiment 35 points below the economy?</a:t>
            </a:r>
          </a:p>
        </p:txBody>
      </p:sp>
      <p:sp>
        <p:nvSpPr>
          <p:cNvPr id="4" name="TextBox 3"/>
          <p:cNvSpPr txBox="1"/>
          <p:nvPr/>
        </p:nvSpPr>
        <p:spPr>
          <a:xfrm>
            <a:off x="731520" y="3566160"/>
            <a:ext cx="10515600" cy="914400"/>
          </a:xfrm>
          <a:prstGeom prst="rect">
            <a:avLst/>
          </a:prstGeom>
          <a:noFill/>
        </p:spPr>
        <p:txBody>
          <a:bodyPr wrap="square">
            <a:spAutoFit/>
          </a:bodyPr>
          <a:lstStyle/>
          <a:p>
            <a:pPr algn="l"/>
            <a:r>
              <a:rPr sz="2000" b="0">
                <a:solidFill>
                  <a:srgbClr val="DDE6F0"/>
                </a:solidFill>
                <a:latin typeface="Calibri"/>
              </a:rPr>
              <a:t>AI-measured economic narratives, the sentiment gap and the 2026 midterms — what a forecaster should take from it</a:t>
            </a:r>
          </a:p>
        </p:txBody>
      </p:sp>
      <p:sp>
        <p:nvSpPr>
          <p:cNvPr id="5" name="TextBox 4"/>
          <p:cNvSpPr txBox="1"/>
          <p:nvPr/>
        </p:nvSpPr>
        <p:spPr>
          <a:xfrm>
            <a:off x="731520" y="5120640"/>
            <a:ext cx="10515600" cy="914400"/>
          </a:xfrm>
          <a:prstGeom prst="rect">
            <a:avLst/>
          </a:prstGeom>
          <a:noFill/>
        </p:spPr>
        <p:txBody>
          <a:bodyPr wrap="square">
            <a:spAutoFit/>
          </a:bodyPr>
          <a:lstStyle/>
          <a:p>
            <a:pPr algn="l"/>
            <a:r>
              <a:rPr sz="1600" b="0">
                <a:solidFill>
                  <a:srgbClr val="DDE6F0"/>
                </a:solidFill>
                <a:latin typeface="Calibri"/>
              </a:rPr>
              <a:t>AI Applications in Finance — final project · data cutoff 14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The puzzle in one picture</a:t>
            </a:r>
          </a:p>
        </p:txBody>
      </p:sp>
      <p:sp>
        <p:nvSpPr>
          <p:cNvPr id="4" name="TextBox 3"/>
          <p:cNvSpPr txBox="1"/>
          <p:nvPr/>
        </p:nvSpPr>
        <p:spPr>
          <a:xfrm>
            <a:off x="457200" y="1188720"/>
            <a:ext cx="5577840" cy="5120640"/>
          </a:xfrm>
          <a:prstGeom prst="rect">
            <a:avLst/>
          </a:prstGeom>
          <a:noFill/>
        </p:spPr>
        <p:txBody>
          <a:bodyPr wrap="square">
            <a:spAutoFit/>
          </a:bodyPr>
          <a:lstStyle/>
          <a:p>
            <a:pPr marL="274320" indent="-228600">
              <a:buFont typeface="Arial"/>
              <a:spcAft>
                <a:spcPts val="600"/>
              </a:spcAft>
              <a:buChar char="•"/>
            </a:pPr>
            <a:r>
              <a:rPr sz="1600">
                <a:solidFill>
                  <a:srgbClr val="222222"/>
                </a:solidFill>
                <a:latin typeface="Calibri"/>
              </a:rPr>
              <a:t>Michigan sentiment: </a:t>
            </a:r>
            <a:r>
              <a:rPr b="1" sz="1600">
                <a:solidFill>
                  <a:srgbClr val="222222"/>
                </a:solidFill>
                <a:latin typeface="Calibri"/>
              </a:rPr>
              <a:t>46.3</a:t>
            </a:r>
            <a:r>
              <a:rPr sz="1600">
                <a:solidFill>
                  <a:srgbClr val="222222"/>
                </a:solidFill>
                <a:latin typeface="Calibri"/>
              </a:rPr>
              <a:t> in October 2026 (record low 44.8 in May)</a:t>
            </a:r>
          </a:p>
          <a:p>
            <a:pPr marL="274320" indent="-228600">
              <a:buFont typeface="Arial"/>
              <a:spcAft>
                <a:spcPts val="600"/>
              </a:spcAft>
              <a:buChar char="•"/>
            </a:pPr>
            <a:r>
              <a:rPr sz="1600">
                <a:solidFill>
                  <a:srgbClr val="222222"/>
                </a:solidFill>
                <a:latin typeface="Calibri"/>
              </a:rPr>
              <a:t>Unemployment 4.2%, headline PCE inflation 3.4%, real GDP +2.2% (Q2)</a:t>
            </a:r>
          </a:p>
          <a:p>
            <a:pPr marL="274320" indent="-228600">
              <a:buFont typeface="Arial"/>
              <a:spcAft>
                <a:spcPts val="600"/>
              </a:spcAft>
              <a:buChar char="•"/>
            </a:pPr>
            <a:r>
              <a:rPr sz="1600">
                <a:solidFill>
                  <a:srgbClr val="222222"/>
                </a:solidFill>
                <a:latin typeface="Calibri"/>
              </a:rPr>
              <a:t>An economic-only model estimated on 1978–2019 says sentiment should be </a:t>
            </a:r>
            <a:r>
              <a:rPr b="1" sz="1600">
                <a:solidFill>
                  <a:srgbClr val="222222"/>
                </a:solidFill>
                <a:latin typeface="Calibri"/>
              </a:rPr>
              <a:t>about 85</a:t>
            </a:r>
          </a:p>
          <a:p>
            <a:pPr marL="274320" indent="-228600">
              <a:buFont typeface="Arial"/>
              <a:spcAft>
                <a:spcPts val="600"/>
              </a:spcAft>
              <a:buChar char="•"/>
            </a:pPr>
            <a:r>
              <a:rPr sz="1600">
                <a:solidFill>
                  <a:srgbClr val="222222"/>
                </a:solidFill>
                <a:latin typeface="Calibri"/>
              </a:rPr>
              <a:t>Three competing explanations, treated as hypotheses: unmeasured pressure, biased information, measurement artefacts</a:t>
            </a:r>
          </a:p>
        </p:txBody>
      </p:sp>
      <p:pic>
        <p:nvPicPr>
          <p:cNvPr id="5" name="Picture 4" descr="fig1_ics_vs_model.png"/>
          <p:cNvPicPr>
            <a:picLocks noChangeAspect="1"/>
          </p:cNvPicPr>
          <p:nvPr/>
        </p:nvPicPr>
        <p:blipFill>
          <a:blip r:embed="rId2"/>
          <a:stretch>
            <a:fillRect/>
          </a:stretch>
        </p:blipFill>
        <p:spPr>
          <a:xfrm>
            <a:off x="6217920" y="1188720"/>
            <a:ext cx="5577840" cy="2535382"/>
          </a:xfrm>
          <a:prstGeom prst="rect">
            <a:avLst/>
          </a:prstGeom>
        </p:spPr>
      </p:pic>
      <p:sp>
        <p:nvSpPr>
          <p:cNvPr id="6" name="TextBox 5"/>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The sentiment gap</a:t>
            </a:r>
          </a:p>
        </p:txBody>
      </p:sp>
      <p:sp>
        <p:nvSpPr>
          <p:cNvPr id="4" name="TextBox 3"/>
          <p:cNvSpPr txBox="1"/>
          <p:nvPr/>
        </p:nvSpPr>
        <p:spPr>
          <a:xfrm>
            <a:off x="457200" y="1188720"/>
            <a:ext cx="5577840" cy="5120640"/>
          </a:xfrm>
          <a:prstGeom prst="rect">
            <a:avLst/>
          </a:prstGeom>
          <a:noFill/>
        </p:spPr>
        <p:txBody>
          <a:bodyPr wrap="square">
            <a:spAutoFit/>
          </a:bodyPr>
          <a:lstStyle/>
          <a:p>
            <a:pPr marL="274320" indent="-228600">
              <a:buFont typeface="Arial"/>
              <a:spcAft>
                <a:spcPts val="600"/>
              </a:spcAft>
              <a:buChar char="•"/>
            </a:pPr>
            <a:r>
              <a:rPr sz="1600">
                <a:solidFill>
                  <a:srgbClr val="222222"/>
                </a:solidFill>
                <a:latin typeface="Calibri"/>
              </a:rPr>
              <a:t>Gap = actual minus real-time out-of-sample prediction; a negative gap is unexplained pessimism, not proof of bias</a:t>
            </a:r>
          </a:p>
          <a:p>
            <a:pPr marL="274320" indent="-228600">
              <a:buFont typeface="Arial"/>
              <a:spcAft>
                <a:spcPts val="600"/>
              </a:spcAft>
              <a:buChar char="•"/>
            </a:pPr>
            <a:r>
              <a:rPr sz="1600">
                <a:solidFill>
                  <a:srgbClr val="222222"/>
                </a:solidFill>
                <a:latin typeface="Calibri"/>
              </a:rPr>
              <a:t>Average gap: −3.5 (2010–19), −23 (2022–24), −31 (2025), </a:t>
            </a:r>
            <a:r>
              <a:rPr b="1" sz="1600">
                <a:solidFill>
                  <a:srgbClr val="222222"/>
                </a:solidFill>
                <a:latin typeface="Calibri"/>
              </a:rPr>
              <a:t>−34 (2026)</a:t>
            </a:r>
            <a:r>
              <a:rPr sz="1600">
                <a:solidFill>
                  <a:srgbClr val="222222"/>
                </a:solidFill>
                <a:latin typeface="Calibri"/>
              </a:rPr>
              <a:t>; −45 for Current Conditions</a:t>
            </a:r>
          </a:p>
          <a:p>
            <a:pPr marL="274320" indent="-228600">
              <a:buFont typeface="Arial"/>
              <a:spcAft>
                <a:spcPts val="600"/>
              </a:spcAft>
              <a:buChar char="•"/>
            </a:pPr>
            <a:r>
              <a:rPr sz="1600">
                <a:solidFill>
                  <a:srgbClr val="222222"/>
                </a:solidFill>
                <a:latin typeface="Calibri"/>
              </a:rPr>
              <a:t>Low unemployment should have added 7 points; inflation subtracted one</a:t>
            </a:r>
          </a:p>
          <a:p>
            <a:pPr marL="274320" indent="-228600">
              <a:buFont typeface="Arial"/>
              <a:spcAft>
                <a:spcPts val="600"/>
              </a:spcAft>
              <a:buChar char="•"/>
            </a:pPr>
            <a:r>
              <a:rPr sz="1600">
                <a:solidFill>
                  <a:srgbClr val="222222"/>
                </a:solidFill>
                <a:latin typeface="Calibri"/>
              </a:rPr>
              <a:t>R² of the three-indicator model fell from 0.59 (1978–2019) to 0.26 with 2020–26 included</a:t>
            </a:r>
          </a:p>
        </p:txBody>
      </p:sp>
      <p:pic>
        <p:nvPicPr>
          <p:cNvPr id="5" name="Picture 4" descr="fig2_gap.png"/>
          <p:cNvPicPr>
            <a:picLocks noChangeAspect="1"/>
          </p:cNvPicPr>
          <p:nvPr/>
        </p:nvPicPr>
        <p:blipFill>
          <a:blip r:embed="rId2"/>
          <a:stretch>
            <a:fillRect/>
          </a:stretch>
        </p:blipFill>
        <p:spPr>
          <a:xfrm>
            <a:off x="6217920" y="1188720"/>
            <a:ext cx="5577840" cy="2028305"/>
          </a:xfrm>
          <a:prstGeom prst="rect">
            <a:avLst/>
          </a:prstGeom>
        </p:spPr>
      </p:pic>
      <p:sp>
        <p:nvSpPr>
          <p:cNvPr id="6" name="TextBox 5"/>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How we measured the narratives</a:t>
            </a:r>
          </a:p>
        </p:txBody>
      </p:sp>
      <p:sp>
        <p:nvSpPr>
          <p:cNvPr id="4" name="TextBox 3"/>
          <p:cNvSpPr txBox="1"/>
          <p:nvPr/>
        </p:nvSpPr>
        <p:spPr>
          <a:xfrm>
            <a:off x="457200" y="1188720"/>
            <a:ext cx="11247120" cy="5120640"/>
          </a:xfrm>
          <a:prstGeom prst="rect">
            <a:avLst/>
          </a:prstGeom>
          <a:noFill/>
        </p:spPr>
        <p:txBody>
          <a:bodyPr wrap="square">
            <a:spAutoFit/>
          </a:bodyPr>
          <a:lstStyle/>
          <a:p>
            <a:pPr marL="274320" indent="-228600">
              <a:buFont typeface="Arial"/>
              <a:spcAft>
                <a:spcPts val="600"/>
              </a:spcAft>
              <a:buChar char="•"/>
            </a:pPr>
            <a:r>
              <a:rPr sz="1800">
                <a:solidFill>
                  <a:srgbClr val="222222"/>
                </a:solidFill>
                <a:latin typeface="Calibri"/>
              </a:rPr>
              <a:t>90,000+ unique US economic headlines from systematic GDELT 15-minute slices; 38,000 Bluesky posts (9 consumer-economy queries); supply, not exposure</a:t>
            </a:r>
          </a:p>
          <a:p>
            <a:pPr marL="274320" indent="-228600">
              <a:buFont typeface="Arial"/>
              <a:spcAft>
                <a:spcPts val="600"/>
              </a:spcAft>
              <a:buChar char="•"/>
            </a:pPr>
            <a:r>
              <a:rPr sz="1800">
                <a:solidFill>
                  <a:srgbClr val="222222"/>
                </a:solidFill>
                <a:latin typeface="Calibri"/>
              </a:rPr>
              <a:t>Frozen coding scheme, five dimensions with explicit benchmarks: tone, salience, framing, factual calibration, political attribution</a:t>
            </a:r>
          </a:p>
          <a:p>
            <a:pPr marL="274320" indent="-228600">
              <a:buFont typeface="Arial"/>
              <a:spcAft>
                <a:spcPts val="600"/>
              </a:spcAft>
              <a:buChar char="•"/>
            </a:pPr>
            <a:r>
              <a:rPr sz="1800">
                <a:solidFill>
                  <a:srgbClr val="222222"/>
                </a:solidFill>
                <a:latin typeface="Calibri"/>
              </a:rPr>
              <a:t>LLM (Claude Haiku 5.5, frozen prompt) on a stratified monthly sample; GDELT tone, VADER, FinBERT, tweet-RoBERTa, TF-IDF logistic regression on the full corpus</a:t>
            </a:r>
          </a:p>
          <a:p>
            <a:pPr marL="274320" indent="-228600">
              <a:buFont typeface="Arial"/>
              <a:spcAft>
                <a:spcPts val="600"/>
              </a:spcAft>
              <a:buChar char="•"/>
            </a:pPr>
            <a:r>
              <a:rPr sz="1800">
                <a:solidFill>
                  <a:srgbClr val="222222"/>
                </a:solidFill>
                <a:latin typeface="Calibri"/>
              </a:rPr>
              <a:t>Name-swap and source-label tests: tone flips in only 4–6% of items; attribution flips as it should</a:t>
            </a:r>
          </a:p>
          <a:p>
            <a:pPr marL="274320" indent="-228600">
              <a:buFont typeface="Arial"/>
              <a:spcAft>
                <a:spcPts val="600"/>
              </a:spcAft>
              <a:buChar char="•"/>
            </a:pPr>
            <a:r>
              <a:rPr sz="1800">
                <a:solidFill>
                  <a:srgbClr val="222222"/>
                </a:solidFill>
                <a:latin typeface="Calibri"/>
              </a:rPr>
              <a:t>320-item human workbook and guide ready; two-annotator coding pending (the main validation gap)</a:t>
            </a:r>
          </a:p>
        </p:txBody>
      </p:sp>
      <p:sp>
        <p:nvSpPr>
          <p:cNvPr id="5" name="TextBox 4"/>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What coverage looked like, December 2024 to October 2026</a:t>
            </a:r>
          </a:p>
        </p:txBody>
      </p:sp>
      <p:sp>
        <p:nvSpPr>
          <p:cNvPr id="4" name="TextBox 3"/>
          <p:cNvSpPr txBox="1"/>
          <p:nvPr/>
        </p:nvSpPr>
        <p:spPr>
          <a:xfrm>
            <a:off x="457200" y="1188720"/>
            <a:ext cx="5577840" cy="5120640"/>
          </a:xfrm>
          <a:prstGeom prst="rect">
            <a:avLst/>
          </a:prstGeom>
          <a:noFill/>
        </p:spPr>
        <p:txBody>
          <a:bodyPr wrap="square">
            <a:spAutoFit/>
          </a:bodyPr>
          <a:lstStyle/>
          <a:p>
            <a:pPr marL="274320" indent="-228600">
              <a:buFont typeface="Arial"/>
              <a:spcAft>
                <a:spcPts val="600"/>
              </a:spcAft>
              <a:buChar char="•"/>
            </a:pPr>
            <a:r>
              <a:rPr sz="1600">
                <a:solidFill>
                  <a:srgbClr val="222222"/>
                </a:solidFill>
                <a:latin typeface="Calibri"/>
              </a:rPr>
              <a:t>6,100 LLM-labelled items. Headlines: 49% negative, 19% positive, only 11% alarmist; news tone </a:t>
            </a:r>
            <a:r>
              <a:rPr b="1" sz="1600">
                <a:solidFill>
                  <a:srgbClr val="222222"/>
                </a:solidFill>
                <a:latin typeface="Calibri"/>
              </a:rPr>
              <a:t>moved with the data</a:t>
            </a:r>
            <a:r>
              <a:rPr sz="1600">
                <a:solidFill>
                  <a:srgbClr val="222222"/>
                </a:solidFill>
                <a:latin typeface="Calibri"/>
              </a:rPr>
              <a:t> (worst at the 2025 tariff shock, the autumn-2025 shutdown and March 2026; best after good jobs reports)</a:t>
            </a:r>
          </a:p>
          <a:p>
            <a:pPr marL="274320" indent="-228600">
              <a:buFont typeface="Arial"/>
              <a:spcAft>
                <a:spcPts val="600"/>
              </a:spcAft>
              <a:buChar char="•"/>
            </a:pPr>
            <a:r>
              <a:rPr sz="1600">
                <a:solidFill>
                  <a:srgbClr val="222222"/>
                </a:solidFill>
                <a:latin typeface="Calibri"/>
              </a:rPr>
              <a:t>Bluesky: 85% negative, 39% alarmist, 38% about the author's own household — between −0.7 and −0.9 every month</a:t>
            </a:r>
          </a:p>
          <a:p>
            <a:pPr marL="274320" indent="-228600">
              <a:buFont typeface="Arial"/>
              <a:spcAft>
                <a:spcPts val="600"/>
              </a:spcAft>
              <a:buChar char="•"/>
            </a:pPr>
            <a:r>
              <a:rPr sz="1600">
                <a:solidFill>
                  <a:srgbClr val="222222"/>
                </a:solidFill>
                <a:latin typeface="Calibri"/>
              </a:rPr>
              <a:t>Rising-price salience 26% vs easing prices 7% (12:1 on Bluesky); price-</a:t>
            </a:r>
            <a:r>
              <a:rPr b="1" sz="1600">
                <a:solidFill>
                  <a:srgbClr val="222222"/>
                </a:solidFill>
                <a:latin typeface="Calibri"/>
              </a:rPr>
              <a:t>level</a:t>
            </a:r>
            <a:r>
              <a:rPr sz="1600">
                <a:solidFill>
                  <a:srgbClr val="222222"/>
                </a:solidFill>
                <a:latin typeface="Calibri"/>
              </a:rPr>
              <a:t> framing rose from a quarter of price stories in early 2026 to half by autumn</a:t>
            </a:r>
          </a:p>
          <a:p>
            <a:pPr marL="274320" indent="-228600">
              <a:buFont typeface="Arial"/>
              <a:spcAft>
                <a:spcPts val="600"/>
              </a:spcAft>
              <a:buChar char="•"/>
            </a:pPr>
            <a:r>
              <a:rPr sz="1600">
                <a:solidFill>
                  <a:srgbClr val="222222"/>
                </a:solidFill>
                <a:latin typeface="Calibri"/>
              </a:rPr>
              <a:t>Attribution is slanted by audience lean: left-rated outlets blame the administration in 41% of items, centre and right 4–8%</a:t>
            </a:r>
          </a:p>
          <a:p>
            <a:pPr marL="274320" indent="-228600">
              <a:buFont typeface="Arial"/>
              <a:spcAft>
                <a:spcPts val="600"/>
              </a:spcAft>
              <a:buChar char="•"/>
            </a:pPr>
            <a:r>
              <a:rPr sz="1600">
                <a:solidFill>
                  <a:srgbClr val="222222"/>
                </a:solidFill>
                <a:latin typeface="Calibri"/>
              </a:rPr>
              <a:t>Headline numbers are 79% accurate (87% at national outlets); errors cluster in GDP growth and on social media</a:t>
            </a:r>
          </a:p>
        </p:txBody>
      </p:sp>
      <p:pic>
        <p:nvPicPr>
          <p:cNvPr id="5" name="Picture 4" descr="fig5_media_vs_gap.png"/>
          <p:cNvPicPr>
            <a:picLocks noChangeAspect="1"/>
          </p:cNvPicPr>
          <p:nvPr/>
        </p:nvPicPr>
        <p:blipFill>
          <a:blip r:embed="rId2"/>
          <a:stretch>
            <a:fillRect/>
          </a:stretch>
        </p:blipFill>
        <p:spPr>
          <a:xfrm>
            <a:off x="6217920" y="1188720"/>
            <a:ext cx="5577840" cy="2281844"/>
          </a:xfrm>
          <a:prstGeom prst="rect">
            <a:avLst/>
          </a:prstGeom>
        </p:spPr>
      </p:pic>
      <p:sp>
        <p:nvSpPr>
          <p:cNvPr id="6" name="TextBox 5"/>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Does media tone explain the gap? Not in this window</a:t>
            </a:r>
          </a:p>
        </p:txBody>
      </p:sp>
      <p:sp>
        <p:nvSpPr>
          <p:cNvPr id="4" name="TextBox 3"/>
          <p:cNvSpPr txBox="1"/>
          <p:nvPr/>
        </p:nvSpPr>
        <p:spPr>
          <a:xfrm>
            <a:off x="457200" y="1188720"/>
            <a:ext cx="11247120" cy="5120640"/>
          </a:xfrm>
          <a:prstGeom prst="rect">
            <a:avLst/>
          </a:prstGeom>
          <a:noFill/>
        </p:spPr>
        <p:txBody>
          <a:bodyPr wrap="square">
            <a:spAutoFit/>
          </a:bodyPr>
          <a:lstStyle/>
          <a:p>
            <a:pPr marL="274320" indent="-228600">
              <a:buFont typeface="Arial"/>
              <a:spcAft>
                <a:spcPts val="600"/>
              </a:spcAft>
              <a:buChar char="•"/>
            </a:pPr>
            <a:r>
              <a:rPr sz="1800">
                <a:solidFill>
                  <a:srgbClr val="222222"/>
                </a:solidFill>
                <a:latin typeface="Calibri"/>
              </a:rPr>
              <a:t>Correlation between LLM news tone and the gap over 23 months: </a:t>
            </a:r>
            <a:r>
              <a:rPr b="1" sz="1800">
                <a:solidFill>
                  <a:srgbClr val="222222"/>
                </a:solidFill>
                <a:latin typeface="Calibri"/>
              </a:rPr>
              <a:t>0.12, not significant</a:t>
            </a:r>
          </a:p>
          <a:p>
            <a:pPr marL="274320" indent="-228600">
              <a:buFont typeface="Arial"/>
              <a:spcAft>
                <a:spcPts val="600"/>
              </a:spcAft>
              <a:buChar char="•"/>
            </a:pPr>
            <a:r>
              <a:rPr sz="1800">
                <a:solidFill>
                  <a:srgbClr val="222222"/>
                </a:solidFill>
                <a:latin typeface="Calibri"/>
              </a:rPr>
              <a:t>Alarmist wording is weakly negative (p 0.01) but does not survive the Holm correction; social tone barely varies</a:t>
            </a:r>
          </a:p>
          <a:p>
            <a:pPr marL="274320" indent="-228600">
              <a:buFont typeface="Arial"/>
              <a:spcAft>
                <a:spcPts val="600"/>
              </a:spcAft>
              <a:buChar char="•"/>
            </a:pPr>
            <a:r>
              <a:rPr sz="1800">
                <a:solidFill>
                  <a:srgbClr val="222222"/>
                </a:solidFill>
                <a:latin typeface="Calibri"/>
              </a:rPr>
              <a:t>The one strong correlation (full-corpus FinBERT tone, 0.59) comes from two series that both trend down over two years — a common trend, not evidence</a:t>
            </a:r>
          </a:p>
          <a:p>
            <a:pPr marL="274320" indent="-228600">
              <a:buFont typeface="Arial"/>
              <a:spcAft>
                <a:spcPts val="600"/>
              </a:spcAft>
              <a:buChar char="•"/>
            </a:pPr>
            <a:r>
              <a:rPr sz="1800">
                <a:solidFill>
                  <a:srgbClr val="222222"/>
                </a:solidFill>
                <a:latin typeface="Calibri"/>
              </a:rPr>
              <a:t>Out-of-sample tests (Diebold–Mariano, Clark–West) are built and wait for the 2017–2024 panel</a:t>
            </a:r>
          </a:p>
          <a:p>
            <a:pPr marL="274320" indent="-228600">
              <a:buFont typeface="Arial"/>
              <a:spcAft>
                <a:spcPts val="600"/>
              </a:spcAft>
              <a:buChar char="•"/>
            </a:pPr>
            <a:r>
              <a:rPr sz="1800">
                <a:solidFill>
                  <a:srgbClr val="222222"/>
                </a:solidFill>
                <a:latin typeface="Calibri"/>
              </a:rPr>
              <a:t>Preliminary verdict: coverage tone tracked the economy; the gap did not</a:t>
            </a:r>
          </a:p>
        </p:txBody>
      </p:sp>
      <p:sp>
        <p:nvSpPr>
          <p:cNvPr id="5" name="TextBox 4"/>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What does explain it: prices, partisanship, survey mode</a:t>
            </a:r>
          </a:p>
        </p:txBody>
      </p:sp>
      <p:sp>
        <p:nvSpPr>
          <p:cNvPr id="4" name="TextBox 3"/>
          <p:cNvSpPr txBox="1"/>
          <p:nvPr/>
        </p:nvSpPr>
        <p:spPr>
          <a:xfrm>
            <a:off x="457200" y="1188720"/>
            <a:ext cx="5577840" cy="5120640"/>
          </a:xfrm>
          <a:prstGeom prst="rect">
            <a:avLst/>
          </a:prstGeom>
          <a:noFill/>
        </p:spPr>
        <p:txBody>
          <a:bodyPr wrap="square">
            <a:spAutoFit/>
          </a:bodyPr>
          <a:lstStyle/>
          <a:p>
            <a:pPr marL="274320" indent="-228600">
              <a:buFont typeface="Arial"/>
              <a:spcAft>
                <a:spcPts val="600"/>
              </a:spcAft>
              <a:buChar char="•"/>
            </a:pPr>
            <a:r>
              <a:rPr sz="1600">
                <a:solidFill>
                  <a:srgbClr val="222222"/>
                </a:solidFill>
                <a:latin typeface="Calibri"/>
              </a:rPr>
              <a:t>Price level 30% above January 2020; year-ahead inflation expectations 4.7%; real wage growth negative in 2026</a:t>
            </a:r>
          </a:p>
          <a:p>
            <a:pPr marL="274320" indent="-228600">
              <a:buFont typeface="Arial"/>
              <a:spcAft>
                <a:spcPts val="600"/>
              </a:spcAft>
              <a:buChar char="•"/>
            </a:pPr>
            <a:r>
              <a:rPr sz="1600">
                <a:solidFill>
                  <a:srgbClr val="222222"/>
                </a:solidFill>
                <a:latin typeface="Calibri"/>
              </a:rPr>
              <a:t>Gap by party: Republicans +23 → −36 → +3 across the three administrations; Democrats −15 → −3 → −49</a:t>
            </a:r>
          </a:p>
          <a:p>
            <a:pPr marL="274320" indent="-228600">
              <a:buFont typeface="Arial"/>
              <a:spcAft>
                <a:spcPts val="600"/>
              </a:spcAft>
              <a:buChar char="•"/>
            </a:pPr>
            <a:r>
              <a:rPr b="1" sz="1600">
                <a:solidFill>
                  <a:srgbClr val="222222"/>
                </a:solidFill>
                <a:latin typeface="Calibri"/>
              </a:rPr>
              <a:t>Independents −37</a:t>
            </a:r>
            <a:r>
              <a:rPr sz="1600">
                <a:solidFill>
                  <a:srgbClr val="222222"/>
                </a:solidFill>
                <a:latin typeface="Calibri"/>
              </a:rPr>
              <a:t> in 2025–26: the gap is real, not just expressive responding</a:t>
            </a:r>
          </a:p>
          <a:p>
            <a:pPr marL="274320" indent="-228600">
              <a:buFont typeface="Arial"/>
              <a:spcAft>
                <a:spcPts val="600"/>
              </a:spcAft>
              <a:buChar char="•"/>
            </a:pPr>
            <a:r>
              <a:rPr sz="1600">
                <a:solidFill>
                  <a:srgbClr val="222222"/>
                </a:solidFill>
                <a:latin typeface="Calibri"/>
              </a:rPr>
              <a:t>Bottom income tercile −39 vs top −27</a:t>
            </a:r>
          </a:p>
          <a:p>
            <a:pPr marL="274320" indent="-228600">
              <a:buFont typeface="Arial"/>
              <a:spcAft>
                <a:spcPts val="600"/>
              </a:spcAft>
              <a:buChar char="•"/>
            </a:pPr>
            <a:r>
              <a:rPr sz="1600">
                <a:solidFill>
                  <a:srgbClr val="222222"/>
                </a:solidFill>
                <a:latin typeface="Calibri"/>
              </a:rPr>
              <a:t>Web-only survey mode since July 2024: −7 to −9 points on the index (Michigan −6.6; Cummings–Tedeschi −8.9), −14 to −19 on Current Conditions</a:t>
            </a:r>
          </a:p>
        </p:txBody>
      </p:sp>
      <p:pic>
        <p:nvPicPr>
          <p:cNvPr id="5" name="Picture 4" descr="fig7_partisan.png"/>
          <p:cNvPicPr>
            <a:picLocks noChangeAspect="1"/>
          </p:cNvPicPr>
          <p:nvPr/>
        </p:nvPicPr>
        <p:blipFill>
          <a:blip r:embed="rId2"/>
          <a:stretch>
            <a:fillRect/>
          </a:stretch>
        </p:blipFill>
        <p:spPr>
          <a:xfrm>
            <a:off x="6217920" y="1188720"/>
            <a:ext cx="5577840" cy="2281844"/>
          </a:xfrm>
          <a:prstGeom prst="rect">
            <a:avLst/>
          </a:prstGeom>
        </p:spPr>
      </p:pic>
      <p:sp>
        <p:nvSpPr>
          <p:cNvPr id="6" name="TextBox 5"/>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Causal design and what would contradict a media story</a:t>
            </a:r>
          </a:p>
        </p:txBody>
      </p:sp>
      <p:sp>
        <p:nvSpPr>
          <p:cNvPr id="4" name="TextBox 3"/>
          <p:cNvSpPr txBox="1"/>
          <p:nvPr/>
        </p:nvSpPr>
        <p:spPr>
          <a:xfrm>
            <a:off x="457200" y="1188720"/>
            <a:ext cx="11247120" cy="5120640"/>
          </a:xfrm>
          <a:prstGeom prst="rect">
            <a:avLst/>
          </a:prstGeom>
          <a:noFill/>
        </p:spPr>
        <p:txBody>
          <a:bodyPr wrap="square">
            <a:spAutoFit/>
          </a:bodyPr>
          <a:lstStyle/>
          <a:p>
            <a:pPr marL="274320" indent="-228600">
              <a:buFont typeface="Arial"/>
              <a:spcAft>
                <a:spcPts val="600"/>
              </a:spcAft>
              <a:buChar char="•"/>
            </a:pPr>
            <a:r>
              <a:rPr sz="1800">
                <a:solidFill>
                  <a:srgbClr val="222222"/>
                </a:solidFill>
                <a:latin typeface="Calibri"/>
              </a:rPr>
              <a:t>Observational data cannot identify media effects: reverse causality and common shocks</a:t>
            </a:r>
          </a:p>
          <a:p>
            <a:pPr marL="274320" indent="-228600">
              <a:buFont typeface="Arial"/>
              <a:spcAft>
                <a:spcPts val="600"/>
              </a:spcAft>
              <a:buChar char="•"/>
            </a:pPr>
            <a:r>
              <a:rPr sz="1800">
                <a:solidFill>
                  <a:srgbClr val="222222"/>
                </a:solidFill>
                <a:latin typeface="Calibri"/>
              </a:rPr>
              <a:t>Proposed: randomized truthful-framing experiment (rate vs level vs balanced summary), n≈1,200, 80% power for a 5-point effect, party as moderator; IRB and consent required</a:t>
            </a:r>
          </a:p>
          <a:p>
            <a:pPr marL="274320" indent="-228600">
              <a:buFont typeface="Arial"/>
              <a:spcAft>
                <a:spcPts val="600"/>
              </a:spcAft>
              <a:buChar char="•"/>
            </a:pPr>
            <a:r>
              <a:rPr sz="1800">
                <a:solidFill>
                  <a:srgbClr val="222222"/>
                </a:solidFill>
                <a:latin typeface="Calibri"/>
              </a:rPr>
              <a:t>Transportability to the national index needs exposure estimates, representative weights and a stable per-exposure effect</a:t>
            </a:r>
          </a:p>
          <a:p>
            <a:pPr marL="274320" indent="-228600">
              <a:buFont typeface="Arial"/>
              <a:spcAft>
                <a:spcPts val="600"/>
              </a:spcAft>
              <a:buChar char="•"/>
            </a:pPr>
            <a:r>
              <a:rPr sz="1800">
                <a:solidFill>
                  <a:srgbClr val="222222"/>
                </a:solidFill>
                <a:latin typeface="Calibri"/>
              </a:rPr>
              <a:t>Evidence against media bias already in hand: tone tracks data; gap equal for independents and larger for low-income households; numbers accurate</a:t>
            </a:r>
          </a:p>
          <a:p>
            <a:pPr marL="274320" indent="-228600">
              <a:buFont typeface="Arial"/>
              <a:spcAft>
                <a:spcPts val="600"/>
              </a:spcAft>
              <a:buChar char="•"/>
            </a:pPr>
            <a:r>
              <a:rPr sz="1800">
                <a:solidFill>
                  <a:srgbClr val="222222"/>
                </a:solidFill>
                <a:latin typeface="Calibri"/>
              </a:rPr>
              <a:t>Evidence still outstanding: whether level and rate frames of the same facts move beliefs differently</a:t>
            </a:r>
          </a:p>
        </p:txBody>
      </p:sp>
      <p:sp>
        <p:nvSpPr>
          <p:cNvPr id="5" name="TextBox 4"/>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822960"/>
          </a:xfrm>
          <a:prstGeom prst="rect">
            <a:avLst/>
          </a:prstGeom>
          <a:noFill/>
        </p:spPr>
        <p:txBody>
          <a:bodyPr wrap="square">
            <a:spAutoFit/>
          </a:bodyPr>
          <a:lstStyle/>
          <a:p>
            <a:pPr algn="l"/>
            <a:r>
              <a:rPr sz="2600" b="1">
                <a:solidFill>
                  <a:srgbClr val="1F3A5F"/>
                </a:solidFill>
                <a:latin typeface="Calibri"/>
              </a:rPr>
              <a:t>One practical implication for forecasting and risk</a:t>
            </a:r>
          </a:p>
        </p:txBody>
      </p:sp>
      <p:sp>
        <p:nvSpPr>
          <p:cNvPr id="4" name="TextBox 3"/>
          <p:cNvSpPr txBox="1"/>
          <p:nvPr/>
        </p:nvSpPr>
        <p:spPr>
          <a:xfrm>
            <a:off x="457200" y="1188720"/>
            <a:ext cx="11247120" cy="5120640"/>
          </a:xfrm>
          <a:prstGeom prst="rect">
            <a:avLst/>
          </a:prstGeom>
          <a:noFill/>
        </p:spPr>
        <p:txBody>
          <a:bodyPr wrap="square">
            <a:spAutoFit/>
          </a:bodyPr>
          <a:lstStyle/>
          <a:p>
            <a:pPr marL="274320" indent="-228600">
              <a:buFont typeface="Arial"/>
              <a:spcAft>
                <a:spcPts val="600"/>
              </a:spcAft>
              <a:buChar char="•"/>
            </a:pPr>
            <a:r>
              <a:rPr sz="1800">
                <a:solidFill>
                  <a:srgbClr val="222222"/>
                </a:solidFill>
                <a:latin typeface="Calibri"/>
              </a:rPr>
              <a:t>Do not use the Michigan index as an economic signal through this cycle: the economic-only model is wrong by 30–40 points and media tone does not fix it</a:t>
            </a:r>
          </a:p>
          <a:p>
            <a:pPr marL="274320" indent="-228600">
              <a:buFont typeface="Arial"/>
              <a:spcAft>
                <a:spcPts val="600"/>
              </a:spcAft>
              <a:buChar char="•"/>
            </a:pPr>
            <a:r>
              <a:rPr sz="1800">
                <a:solidFill>
                  <a:srgbClr val="222222"/>
                </a:solidFill>
                <a:latin typeface="Calibri"/>
              </a:rPr>
              <a:t>Treat the index as a </a:t>
            </a:r>
            <a:r>
              <a:rPr b="1" sz="1800">
                <a:solidFill>
                  <a:srgbClr val="222222"/>
                </a:solidFill>
                <a:latin typeface="Calibri"/>
              </a:rPr>
              <a:t>price-level and partisan-composition gauge</a:t>
            </a:r>
            <a:r>
              <a:rPr sz="1800">
                <a:solidFill>
                  <a:srgbClr val="222222"/>
                </a:solidFill>
                <a:latin typeface="Calibri"/>
              </a:rPr>
              <a:t>: condition on the price level since 2020, the party of the president and the survey mode break before mapping it to spending or to an election-risk scenario</a:t>
            </a:r>
          </a:p>
          <a:p>
            <a:pPr marL="274320" indent="-228600">
              <a:buFont typeface="Arial"/>
              <a:spcAft>
                <a:spcPts val="600"/>
              </a:spcAft>
              <a:buChar char="•"/>
            </a:pPr>
            <a:r>
              <a:rPr sz="1800">
                <a:solidFill>
                  <a:srgbClr val="222222"/>
                </a:solidFill>
                <a:latin typeface="Calibri"/>
              </a:rPr>
              <a:t>For nowcasting consumption, prefer hard data and the Current Conditions component net of the −14 to −19 mode effect</a:t>
            </a:r>
          </a:p>
          <a:p>
            <a:pPr marL="274320" indent="-228600">
              <a:buFont typeface="Arial"/>
              <a:spcAft>
                <a:spcPts val="600"/>
              </a:spcAft>
              <a:buChar char="•"/>
            </a:pPr>
            <a:r>
              <a:rPr sz="1800">
                <a:solidFill>
                  <a:srgbClr val="222222"/>
                </a:solidFill>
                <a:latin typeface="Calibri"/>
              </a:rPr>
              <a:t>Monitor with the dashboard: prediction with intervals, gap, media tone/framing/salience/calibration, releases, source composition, model performance</a:t>
            </a:r>
          </a:p>
          <a:p>
            <a:pPr marL="274320" indent="-228600">
              <a:buFont typeface="Arial"/>
              <a:spcAft>
                <a:spcPts val="600"/>
              </a:spcAft>
              <a:buChar char="•"/>
            </a:pPr>
            <a:r>
              <a:rPr sz="1800">
                <a:solidFill>
                  <a:srgbClr val="222222"/>
                </a:solidFill>
                <a:latin typeface="Calibri"/>
              </a:rPr>
              <a:t>Prospective plan: re-run after the Oct 23 final, Oct 28 FOMC, Oct 29 GDP/PCE, Nov 3 election, Nov 6 jobs report</a:t>
            </a:r>
          </a:p>
        </p:txBody>
      </p:sp>
      <p:sp>
        <p:nvSpPr>
          <p:cNvPr id="5" name="TextBox 4"/>
          <p:cNvSpPr txBox="1"/>
          <p:nvPr/>
        </p:nvSpPr>
        <p:spPr>
          <a:xfrm>
            <a:off x="457200" y="6446520"/>
            <a:ext cx="10972800" cy="365760"/>
          </a:xfrm>
          <a:prstGeom prst="rect">
            <a:avLst/>
          </a:prstGeom>
          <a:noFill/>
        </p:spPr>
        <p:txBody>
          <a:bodyPr wrap="square">
            <a:spAutoFit/>
          </a:bodyPr>
          <a:lstStyle/>
          <a:p>
            <a:pPr algn="l"/>
            <a:r>
              <a:rPr sz="1000" b="0">
                <a:solidFill>
                  <a:srgbClr val="555555"/>
                </a:solidFill>
                <a:latin typeface="Calibri"/>
              </a:rPr>
              <a:t>Sentiment gap project · all figures from data/processed · dashboard/index.html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